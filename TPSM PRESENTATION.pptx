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FD02-2AD7-5B9F-DF19-98CB7FE9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8068D-CB4C-908B-BDDC-03159FEF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40751-03D3-7C7D-AEFC-9CC0697EA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E9CD7-0364-F7DE-8ED7-0041DFACE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8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ACF0-9423-90AA-C121-555387F2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C41BB-C77D-4838-F29F-8A539CE16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9530B-F5B3-5D25-C641-4033BDC59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B17E9-02C7-9B84-CB38-15B7274FB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9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CADCF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3E8"/>
                </a:solidFill>
              </a:rPr>
              <a:t>IT3011 — THEORY AND PRACTICES IN STATISTICAL MODELLING — STATX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2907" y="795528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"Employees Who Receive Regular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Feedback Perform Better Than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Those Who Do Not"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1280160" cy="64008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0372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3708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E8"/>
                </a:solidFill>
              </a:rPr>
              <a:t>Datasets: Employee.csv  +  PerformanceRating.csv   |   Significance level: alpha = 0.05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3E1B05-46DD-61C7-C6C0-D2104319323E}"/>
              </a:ext>
            </a:extLst>
          </p:cNvPr>
          <p:cNvSpPr txBox="1"/>
          <p:nvPr/>
        </p:nvSpPr>
        <p:spPr>
          <a:xfrm>
            <a:off x="574256" y="3308926"/>
            <a:ext cx="632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IT23698536 - WEERASINGHE N.H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IT23686410 - SENEVIRATHNE D.V.S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IT23703094 - DE SILVA W.H.P.P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IT23702622 - G.HARAN 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What we are investigating and why it matters</a:t>
            </a:r>
            <a:endParaRPr lang="en-US" sz="9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5A8252-049E-4342-8493-0D38E20B994A}"/>
              </a:ext>
            </a:extLst>
          </p:cNvPr>
          <p:cNvGrpSpPr/>
          <p:nvPr/>
        </p:nvGrpSpPr>
        <p:grpSpPr>
          <a:xfrm>
            <a:off x="228600" y="1411192"/>
            <a:ext cx="8412480" cy="777240"/>
            <a:chOff x="365760" y="914400"/>
            <a:chExt cx="8412480" cy="777240"/>
          </a:xfrm>
        </p:grpSpPr>
        <p:sp>
          <p:nvSpPr>
            <p:cNvPr id="6" name="Shape 4"/>
            <p:cNvSpPr/>
            <p:nvPr/>
          </p:nvSpPr>
          <p:spPr>
            <a:xfrm>
              <a:off x="365760" y="914400"/>
              <a:ext cx="8412480" cy="777240"/>
            </a:xfrm>
            <a:prstGeom prst="rect">
              <a:avLst/>
            </a:prstGeom>
            <a:solidFill>
              <a:srgbClr val="E6EFFE"/>
            </a:solidFill>
            <a:ln w="1524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65760" y="914400"/>
              <a:ext cx="91440" cy="77724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66928" y="987552"/>
              <a:ext cx="80467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i="1" dirty="0">
                  <a:solidFill>
                    <a:srgbClr val="1E2761"/>
                  </a:solidFill>
                </a:rPr>
                <a:t>"Employees who receive regular feedback perform better than those who do not"</a:t>
              </a:r>
              <a:endParaRPr lang="en-US" sz="13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149D7-B04F-ECB1-9CA6-1F45DEDEAB23}"/>
              </a:ext>
            </a:extLst>
          </p:cNvPr>
          <p:cNvGrpSpPr/>
          <p:nvPr/>
        </p:nvGrpSpPr>
        <p:grpSpPr>
          <a:xfrm>
            <a:off x="320040" y="2697480"/>
            <a:ext cx="4114800" cy="1757788"/>
            <a:chOff x="365760" y="1828800"/>
            <a:chExt cx="4114800" cy="1371600"/>
          </a:xfrm>
        </p:grpSpPr>
        <p:sp>
          <p:nvSpPr>
            <p:cNvPr id="9" name="Shape 7"/>
            <p:cNvSpPr/>
            <p:nvPr/>
          </p:nvSpPr>
          <p:spPr>
            <a:xfrm>
              <a:off x="365760" y="1828800"/>
              <a:ext cx="4114800" cy="1371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75488" y="1920240"/>
              <a:ext cx="54864" cy="2743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85216" y="1920240"/>
              <a:ext cx="373075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Why This Matters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8640" y="2240280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Performance is a key business outcome in any organisation</a:t>
              </a:r>
              <a:endParaRPr lang="en-US" sz="105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If proven, organisations can invest in structured feedback programmes</a:t>
              </a:r>
              <a:endParaRPr lang="en-US" sz="105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This study tests a widely held workplace assumption using real data</a:t>
              </a:r>
              <a:endParaRPr lang="en-US" sz="10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ECFA42-B9C8-09AC-4E2A-5DABAA6E5EDD}"/>
              </a:ext>
            </a:extLst>
          </p:cNvPr>
          <p:cNvGrpSpPr/>
          <p:nvPr/>
        </p:nvGrpSpPr>
        <p:grpSpPr>
          <a:xfrm>
            <a:off x="4617720" y="2697479"/>
            <a:ext cx="4114800" cy="1757787"/>
            <a:chOff x="4663440" y="1828800"/>
            <a:chExt cx="4114800" cy="1371600"/>
          </a:xfrm>
        </p:grpSpPr>
        <p:sp>
          <p:nvSpPr>
            <p:cNvPr id="13" name="Shape 11"/>
            <p:cNvSpPr/>
            <p:nvPr/>
          </p:nvSpPr>
          <p:spPr>
            <a:xfrm>
              <a:off x="4663440" y="1828800"/>
              <a:ext cx="4114800" cy="1371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4773168" y="1920240"/>
              <a:ext cx="54864" cy="2743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882896" y="1920240"/>
              <a:ext cx="373075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Hypotheses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73168" y="2240280"/>
              <a:ext cx="38862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761"/>
                  </a:solidFill>
                </a:rPr>
                <a:t>H0: </a:t>
              </a:r>
              <a:r>
                <a:rPr lang="en-US" sz="1050" dirty="0">
                  <a:solidFill>
                    <a:srgbClr val="1E293B"/>
                  </a:solidFill>
                </a:rPr>
                <a:t>No significant difference in manager rating between groups
</a:t>
              </a:r>
              <a:r>
                <a:rPr lang="en-US" sz="1100" b="1" dirty="0">
                  <a:solidFill>
                    <a:srgbClr val="0D9488"/>
                  </a:solidFill>
                </a:rPr>
                <a:t>H1: </a:t>
              </a:r>
              <a:r>
                <a:rPr lang="en-US" sz="1050" dirty="0">
                  <a:solidFill>
                    <a:srgbClr val="1E293B"/>
                  </a:solidFill>
                </a:rPr>
                <a:t>Regular feedback group has significantly higher manager ratings
</a:t>
              </a:r>
              <a:r>
                <a:rPr lang="en-US" sz="1000" i="1" dirty="0">
                  <a:solidFill>
                    <a:srgbClr val="64748B"/>
                  </a:solidFill>
                </a:rPr>
                <a:t>Significance level: alpha = 0.05</a:t>
              </a:r>
              <a:endParaRPr lang="en-US" sz="11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What this assignment sets out to achieve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624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Collect and merge two secondary datasets using 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67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Clean data, check missing values, engineer variables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Descriptive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465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Summarise and compare performance across feedback groups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3708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Time Series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517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Track performance trends over 10 years of review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216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Inferential Analytics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3624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Run 4 statistical tests to test the hypothesis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011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01168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267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Predictive Analytics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4140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Build regression models to predict performance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0632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06324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496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Final Decision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465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Justify conclusion based on statistical evidence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Collection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Secondary datasets provided for the module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60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1 — Employee.csv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3913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1,470 employee records  |  23 variables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Key variables: EmployeeID, Department,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JobRole, Age, Salary, YearsAtCompany, Attrition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9875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2 — PerformanceRating.csv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316736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6,709 review records  |  11 variables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Key variables: EmployeeID, ManagerRating,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SelfRating, TrainingOpportunitiesWithinYear,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TrainingOpportunitiesTaken, ReviewDate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FDC597-2CD1-6AE5-7C56-A600411FF026}"/>
              </a:ext>
            </a:extLst>
          </p:cNvPr>
          <p:cNvGrpSpPr/>
          <p:nvPr/>
        </p:nvGrpSpPr>
        <p:grpSpPr>
          <a:xfrm>
            <a:off x="365760" y="3749883"/>
            <a:ext cx="8412480" cy="777240"/>
            <a:chOff x="365760" y="3246120"/>
            <a:chExt cx="8412480" cy="777240"/>
          </a:xfrm>
        </p:grpSpPr>
        <p:sp>
          <p:nvSpPr>
            <p:cNvPr id="14" name="Shape 12"/>
            <p:cNvSpPr/>
            <p:nvPr/>
          </p:nvSpPr>
          <p:spPr>
            <a:xfrm>
              <a:off x="365760" y="3246120"/>
              <a:ext cx="8412480" cy="777240"/>
            </a:xfrm>
            <a:prstGeom prst="rect">
              <a:avLst/>
            </a:prstGeom>
            <a:solidFill>
              <a:srgbClr val="E6EFFE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475488" y="3337560"/>
              <a:ext cx="54864" cy="2743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85216" y="3337560"/>
              <a:ext cx="4005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Key Variables Selected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75488" y="3639312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761"/>
                  </a:solidFill>
                </a:rPr>
                <a:t>Independent Variable (IV):  </a:t>
              </a:r>
              <a:r>
                <a:rPr lang="en-US" sz="1050" dirty="0">
                  <a:solidFill>
                    <a:srgbClr val="1E293B"/>
                  </a:solidFill>
                </a:rPr>
                <a:t>TrainingOpportunitiesWithinYear — proxy for regular feedback
</a:t>
              </a:r>
              <a:r>
                <a:rPr lang="en-US" sz="1050" b="1" dirty="0">
                  <a:solidFill>
                    <a:srgbClr val="1E2761"/>
                  </a:solidFill>
                </a:rPr>
                <a:t>Dependent Variable (DV):     </a:t>
              </a:r>
              <a:r>
                <a:rPr lang="en-US" sz="1050" dirty="0">
                  <a:solidFill>
                    <a:srgbClr val="1E293B"/>
                  </a:solidFill>
                </a:rPr>
                <a:t>ManagerRating (scale 2–5) — measure of performance</a:t>
              </a:r>
              <a:endParaRPr lang="en-US" sz="105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365760" y="4325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Merging, cleaning, and preparing data for analysis in 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457200" cy="7132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Merge Datasets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8016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inner_join() on EmployeeID — combines both files into 6,709 rows with all variables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Missing Value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08483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is.na() on all key columns — result: 0 missing values found in every column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457200" cy="7132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615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88950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FeedbackGroup: sessions &gt;= 2 = Regular Feedback, 1 = No Regular Feedback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HighPerformer: ManagerRating &gt;= 4 = High, below 4 = 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457200" cy="713232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5112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3419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</a:rPr>
              <a:t>Date Conversion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69417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ReviewDate converted to proper date format. Year extracted for time series analysis (2013–2022)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45720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315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Normality Check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449884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Histogram + Q-Q plot confirmed ManagerRating is approximately normal — validates use of t-test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983480"/>
            <a:ext cx="8412480" cy="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Descriptive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— No Feedback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3.485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32888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32888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78608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— Regular Feedback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8608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3.468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00016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45736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Difference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45736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0.017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67144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67144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12864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High Perf (both groups)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12864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~49%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4160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21031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21031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Group Statistics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2423160"/>
            <a:ext cx="393192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468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92808" y="2468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50008" y="2468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52928" y="2468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24688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" y="2862072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29077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 Regular Feedback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92808" y="29077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2,214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50008" y="29077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3.485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52928" y="29077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0.942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5848" y="2907792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50.45%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" y="3300984"/>
            <a:ext cx="3931920" cy="384048"/>
          </a:xfrm>
          <a:prstGeom prst="rect">
            <a:avLst/>
          </a:prstGeom>
          <a:solidFill>
            <a:srgbClr val="F8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" y="33467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Regular Feedback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92808" y="33467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4,495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50008" y="33467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3.468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52928" y="33467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0.971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55848" y="334670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48.50%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01168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73168" y="21031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82896" y="21031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Time Series (2013–2022)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73168" y="242316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Review data spans 10 years — 6,709 records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Both group lines cross 6 times over 10 years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consistent advantage for either group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 2015: No Feedback (3.623) scored HIGHER than Regular Feedback (3.502)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Both groups track around the overall mean of 3.473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2565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F1D48-891B-837E-1DDB-BF7976EC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E2E620-921A-43AF-23A6-10DFF790B079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35BB47-8FA9-9C27-D845-A82F146E0CBE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959D25-CBF8-504B-F53B-AF5F7F268E00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Descriptive 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C38860-3409-07AC-4494-1591D7DD720B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F8576AE-25F8-E0FF-11EB-C21B05707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23544"/>
            <a:ext cx="3839184" cy="383918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608D422-A945-6363-86C4-F850F799F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654" y="923544"/>
            <a:ext cx="4009620" cy="383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0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C002D-AB33-AC49-A475-23FDDE82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D948DC-0F41-98C7-BD7B-053AB0557611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512628-F2C4-CF5D-1A39-96D55EA0047D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4C4F47-B68B-AE4B-0D93-5920E86A3B48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Time Series </a:t>
            </a:r>
            <a:r>
              <a:rPr lang="en-US" sz="2000" b="1" dirty="0">
                <a:solidFill>
                  <a:srgbClr val="FFFFFF"/>
                </a:solidFill>
              </a:rPr>
              <a:t>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2BD5F5-E65C-B828-C488-E1A140EC3DC2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7BB85-62B3-265E-04C2-4E04B7E2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613" y="882964"/>
            <a:ext cx="4234774" cy="41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Inferential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Four statistical tests — all at significance level alpha = 0.05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E6EFFE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H0: </a:t>
            </a:r>
            <a:r>
              <a:rPr lang="en-US" sz="1050" dirty="0">
                <a:solidFill>
                  <a:srgbClr val="1E293B"/>
                </a:solidFill>
              </a:rPr>
              <a:t>No significant difference in manager rating between groups     </a:t>
            </a:r>
            <a:r>
              <a:rPr lang="en-US" sz="1050" b="1" dirty="0">
                <a:solidFill>
                  <a:srgbClr val="0D9488"/>
                </a:solidFill>
              </a:rPr>
              <a:t>H1: </a:t>
            </a:r>
            <a:r>
              <a:rPr lang="en-US" sz="1050" dirty="0">
                <a:solidFill>
                  <a:srgbClr val="1E293B"/>
                </a:solidFill>
              </a:rPr>
              <a:t>Regular feedback group has significantly higher ratings     </a:t>
            </a:r>
            <a:r>
              <a:rPr lang="en-US" sz="1050" b="1" dirty="0">
                <a:solidFill>
                  <a:srgbClr val="D97706"/>
                </a:solidFill>
              </a:rPr>
              <a:t>alpha = 0.05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42062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t-test (one-tailed)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Compares mean ManagerRating between 2 groups. One-tailed because H1 is directional.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t = -0.672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075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0.501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05072" cy="256032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One-Way ANOVA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Compares all 3 training levels (1, 2, 3 sessions) simultaneously. t-test only compares 2 groups.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F = 0.253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0.776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400507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32588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325880"/>
            <a:ext cx="4206240" cy="27432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Chi-Square Test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Tests association between FeedbackGroup and HighPerformer — both are categorical variables.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chi-sq = 2.341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75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0.126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2377440"/>
            <a:ext cx="4005072" cy="256032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044952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3044952"/>
            <a:ext cx="420624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Pearson Correlation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Tests linear relationship between training sessions (number) and manager rating (number).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r = -0.009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0.484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4096512"/>
            <a:ext cx="4005072" cy="25603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NO SIGNIFICANT CORRELATION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All 4 tests returned p &gt; 0.05 — We FAIL TO REJECT H0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Multiple Linear Regression + Logistic Regression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6052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605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41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1 — Multiple Linear 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Why this model: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Outcome (ManagerRating) is a NUMBER — scale 2 to 5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We have 7 predictor variables — so MULTIPLE, not simple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Results: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359152"/>
            <a:ext cx="393192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R-squared: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8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0.729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450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72.9% variance explained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2862072"/>
            <a:ext cx="393192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916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Training coef: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9077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0.000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29535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 effect on rating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393192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SelfRating coef: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4107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1.008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88920" y="3456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Dominant predictor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11480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9418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2 — Logistic Regression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12801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Why this model: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15087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Outcome (HighPerformer) is a CATEGORY — High or 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Linear regression cannot predict categories — predicts numbers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Logistic regression converts output to probability, then classifies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267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Results: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505456"/>
            <a:ext cx="3931920" cy="420624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2578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Accuracy: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2560320"/>
            <a:ext cx="15087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25694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84.4%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3168" y="3008376"/>
            <a:ext cx="3931920" cy="420624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3081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Precision: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0" y="3063240"/>
            <a:ext cx="15087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30723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83%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73168" y="3511296"/>
            <a:ext cx="3931920" cy="420624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35844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Recall: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32320" y="3566160"/>
            <a:ext cx="15087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0" y="357530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86%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73168" y="4014216"/>
            <a:ext cx="3931920" cy="420624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40873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Training OR: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32320" y="4069080"/>
            <a:ext cx="15087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407822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~1.0 (no effect)</a:t>
            </a:r>
            <a:endParaRPr lang="en-US" sz="10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73808F-9302-2097-2819-B2F25ECEC426}"/>
              </a:ext>
            </a:extLst>
          </p:cNvPr>
          <p:cNvGrpSpPr/>
          <p:nvPr/>
        </p:nvGrpSpPr>
        <p:grpSpPr>
          <a:xfrm>
            <a:off x="384048" y="4754880"/>
            <a:ext cx="8412480" cy="320040"/>
            <a:chOff x="384048" y="4535424"/>
            <a:chExt cx="8412480" cy="320040"/>
          </a:xfrm>
        </p:grpSpPr>
        <p:sp>
          <p:nvSpPr>
            <p:cNvPr id="46" name="Shape 44"/>
            <p:cNvSpPr/>
            <p:nvPr/>
          </p:nvSpPr>
          <p:spPr>
            <a:xfrm>
              <a:off x="384048" y="4535424"/>
              <a:ext cx="8412480" cy="320040"/>
            </a:xfrm>
            <a:prstGeom prst="rect">
              <a:avLst/>
            </a:prstGeom>
            <a:solidFill>
              <a:srgbClr val="E6EFFE"/>
            </a:solidFill>
            <a:ln w="635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475488" y="4567428"/>
              <a:ext cx="82296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761"/>
                  </a:solidFill>
                </a:rPr>
                <a:t>Both models confirm: Training variables have near-zero coefficients — feedback does not predict performance.</a:t>
              </a:r>
              <a:endParaRPr lang="en-US" sz="100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Summary of all analytical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42062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Descriptive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Mean ratings: 3.485 vs 3.468 — difference of only 0.017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High performer rate: ~49% in BOTH groups — virtually identical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206240" cy="29260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Series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10 years of data (2013–2022) shows no consistent pattern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Lines cross 6 times — no stable advantage for regular feedback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932688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932688"/>
            <a:ext cx="42062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9692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Inferential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t-test: p = 0.501   |   ANOVA: p = 0.776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Chi-Square: p = 0.126   |   Correlation: p = 0.484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ALL 4 tests: Fail to Reject H0 (p &gt; 0.05)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2062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9626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Linear Regression R2 = 0.729 — driven by SelfRating (coef = 1.008)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Training coefficient = 0.000 — adds nothing to prediction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Logistic Regression accuracy = 84.4% — training not significant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956048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9560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Consistent finding across ALL 4 analytical approaches: No support for the statement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Decision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49808"/>
          </a:xfrm>
          <a:prstGeom prst="rect">
            <a:avLst/>
          </a:prstGeom>
          <a:solidFill>
            <a:srgbClr val="24358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91440" cy="74980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94183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</a:rPr>
              <a:t>DECISION: FAIL TO REJECT H0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3E8"/>
                </a:solidFill>
              </a:rPr>
              <a:t>The statement is NOT supported by the statistical evidence from this dataset.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70662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Why We Fail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All 4 inferential tests returned p &gt; 0.05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Mean difference = 0.017 — negligible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Time series: no consistent direction over 10 years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Both regression training coefficients ≈ zero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755648"/>
            <a:ext cx="270662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What This Means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H0 stands — no sufficient evidence for H1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Feedback quantity does not predict performance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High performer rate identical in both groups (~49%)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This is a valid and important academic finding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755648"/>
            <a:ext cx="2706624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35624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55"/>
                </a:solidFill>
              </a:rPr>
              <a:t>What It Does NOT Mean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35624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It does NOT mean feedback is useless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It means THIS dataset cannot confirm the statement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Proxy variable (training count) may miss quality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Future research with better data may find different result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8321040" cy="621792"/>
          </a:xfrm>
          <a:prstGeom prst="rect">
            <a:avLst/>
          </a:prstGeom>
          <a:solidFill>
            <a:srgbClr val="243580"/>
          </a:solidFill>
          <a:ln w="12700">
            <a:solidFill>
              <a:srgbClr val="243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315968"/>
            <a:ext cx="91440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3708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Limitation: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4590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TrainingOpportunitiesWithinYear is a proxy — measures frequency of sessions offered, not quality of feedback received.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Summary, limitations, and recommendations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024128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02412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Summary of Findings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We tested the statement from 4 analytical angles — descriptive, time series, inferential, and predictive analytics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All approaches consistently showed no significant relationship between feedback frequency and performance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 conclusion is robust — it is not an accident of one test, but consistent across every method applied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23317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23317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51760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Proxy variable — training session count measures frequency, not quality of feedback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Cross-sectional data — cannot establish cause and effect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Confounding variables not fully controlled (role, manager style)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23317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23317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Recommendations for Future Research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651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Collect direct qualitative feedback data — quality not just frequency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Use longitudinal tracking of same employees over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Control for job role and department in future analysis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Thank You  —  IT3011 Group Assignment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1307</Words>
  <Application>Microsoft Office PowerPoint</Application>
  <PresentationFormat>On-screen Show (16:9)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Nethma Weerasinghe</cp:lastModifiedBy>
  <cp:revision>4</cp:revision>
  <dcterms:created xsi:type="dcterms:W3CDTF">2026-04-08T05:01:30Z</dcterms:created>
  <dcterms:modified xsi:type="dcterms:W3CDTF">2026-04-08T07:42:18Z</dcterms:modified>
</cp:coreProperties>
</file>